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embeddedFontLst>
    <p:embeddedFont>
      <p:font typeface="Inter"/>
      <p:regular r:id="rId26"/>
      <p:bold r:id="rId27"/>
      <p:italic r:id="rId28"/>
      <p:boldItalic r:id="rId29"/>
    </p:embeddedFont>
    <p:embeddedFont>
      <p:font typeface="Spectral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Spectral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ectralLight-italic.fntdata"/><Relationship Id="rId20" Type="http://schemas.openxmlformats.org/officeDocument/2006/relationships/slide" Target="slides/slide16.xml"/><Relationship Id="rId41" Type="http://schemas.openxmlformats.org/officeDocument/2006/relationships/font" Target="fonts/SpectralLight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regular.fntdata"/><Relationship Id="rId25" Type="http://schemas.openxmlformats.org/officeDocument/2006/relationships/slide" Target="slides/slide21.xml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pectral-bold.fntdata"/><Relationship Id="rId30" Type="http://schemas.openxmlformats.org/officeDocument/2006/relationships/font" Target="fonts/Spectral-regular.fntdata"/><Relationship Id="rId11" Type="http://schemas.openxmlformats.org/officeDocument/2006/relationships/slide" Target="slides/slide7.xml"/><Relationship Id="rId33" Type="http://schemas.openxmlformats.org/officeDocument/2006/relationships/font" Target="fonts/Spectral-boldItalic.fntdata"/><Relationship Id="rId10" Type="http://schemas.openxmlformats.org/officeDocument/2006/relationships/slide" Target="slides/slide6.xml"/><Relationship Id="rId32" Type="http://schemas.openxmlformats.org/officeDocument/2006/relationships/font" Target="fonts/Spectral-italic.fntdata"/><Relationship Id="rId13" Type="http://schemas.openxmlformats.org/officeDocument/2006/relationships/slide" Target="slides/slide9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8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11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10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3.xml"/><Relationship Id="rId39" Type="http://schemas.openxmlformats.org/officeDocument/2006/relationships/font" Target="fonts/SpectralLight-bold.fntdata"/><Relationship Id="rId16" Type="http://schemas.openxmlformats.org/officeDocument/2006/relationships/slide" Target="slides/slide12.xml"/><Relationship Id="rId38" Type="http://schemas.openxmlformats.org/officeDocument/2006/relationships/font" Target="fonts/SpectralLight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Bismoy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Bismoy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Bismoy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Bismoy</a:t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Bismoy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Bismoy</a:t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Bismoy</a:t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Bismoy</a:t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Shomitro</a:t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Shomitro</a:t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Shomitro</a:t>
            </a:r>
            <a:endParaRPr/>
          </a:p>
        </p:txBody>
      </p:sp>
      <p:sp>
        <p:nvSpPr>
          <p:cNvPr id="226" name="Google Shape;2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Shomitro</a:t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Farhan</a:t>
            </a:r>
            <a:endParaRPr/>
          </a:p>
        </p:txBody>
      </p:sp>
      <p:sp>
        <p:nvSpPr>
          <p:cNvPr id="275" name="Google Shape;2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Farhan</a:t>
            </a:r>
            <a:endParaRPr/>
          </a:p>
        </p:txBody>
      </p:sp>
      <p:sp>
        <p:nvSpPr>
          <p:cNvPr id="300" name="Google Shape;3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Farhan</a:t>
            </a:r>
            <a:endParaRPr/>
          </a:p>
        </p:txBody>
      </p:sp>
      <p:sp>
        <p:nvSpPr>
          <p:cNvPr id="324" name="Google Shape;32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Ahmad</a:t>
            </a:r>
            <a:endParaRPr/>
          </a:p>
        </p:txBody>
      </p:sp>
      <p:sp>
        <p:nvSpPr>
          <p:cNvPr id="345" name="Google Shape;34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Ahmad</a:t>
            </a:r>
            <a:endParaRPr/>
          </a:p>
        </p:txBody>
      </p:sp>
      <p:sp>
        <p:nvSpPr>
          <p:cNvPr id="365" name="Google Shape;3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Ahmad</a:t>
            </a:r>
            <a:endParaRPr/>
          </a:p>
        </p:txBody>
      </p:sp>
      <p:sp>
        <p:nvSpPr>
          <p:cNvPr id="389" name="Google Shape;3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Ahmad</a:t>
            </a:r>
            <a:endParaRPr/>
          </a:p>
        </p:txBody>
      </p:sp>
      <p:sp>
        <p:nvSpPr>
          <p:cNvPr id="412" name="Google Shape;41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Ahmad</a:t>
            </a:r>
            <a:endParaRPr/>
          </a:p>
        </p:txBody>
      </p:sp>
      <p:sp>
        <p:nvSpPr>
          <p:cNvPr id="442" name="Google Shape;4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for listening. We’re happy to take any questions.</a:t>
            </a:r>
            <a:endParaRPr/>
          </a:p>
        </p:txBody>
      </p:sp>
      <p:sp>
        <p:nvSpPr>
          <p:cNvPr id="458" name="Google Shape;4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00100" y="802088"/>
            <a:ext cx="7172400" cy="19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Helvetica Neue"/>
              <a:buNone/>
            </a:pPr>
            <a:r>
              <a:rPr i="0" lang="en-US" sz="285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Differentially Private Analysis of U.S. Household Income Statistics</a:t>
            </a:r>
            <a:endParaRPr i="0" sz="285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Helvetica Neue"/>
              <a:buNone/>
            </a:pPr>
            <a:r>
              <a:rPr i="0" lang="en-US" sz="285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using </a:t>
            </a:r>
            <a:r>
              <a:rPr i="0" lang="en-US" sz="2850" u="none" cap="none" strike="noStrike">
                <a:solidFill>
                  <a:schemeClr val="accent1"/>
                </a:solidFill>
                <a:latin typeface="Spectral"/>
                <a:ea typeface="Spectral"/>
                <a:cs typeface="Spectral"/>
                <a:sym typeface="Spectral"/>
              </a:rPr>
              <a:t>Laplace and Gaussian Mechanisms</a:t>
            </a:r>
            <a:endParaRPr i="0" sz="2850" u="none" cap="none" strike="noStrike">
              <a:solidFill>
                <a:schemeClr val="accen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00100" y="2940075"/>
            <a:ext cx="7172400" cy="14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i="0" lang="en-US" sz="15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Muttaki I Bismoy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i="0" lang="en-US" sz="15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Shomitro K Ghosh</a:t>
            </a:r>
            <a:endParaRPr sz="15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i="0" lang="en-US" sz="15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Farhan Tanvir &amp; </a:t>
            </a:r>
            <a:endParaRPr i="0" sz="1500" u="none" cap="none" strike="noStrike">
              <a:solidFill>
                <a:srgbClr val="000000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i="0" lang="en-US" sz="15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Ahmad Jadallah</a:t>
            </a:r>
            <a:endParaRPr i="0" sz="15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19" name="Google Shape;19;p3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" name="Google Shape;20;p3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21" name="Google Shape;21;p3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545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800100" y="1090613"/>
            <a:ext cx="5157788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00100" y="1090613"/>
            <a:ext cx="381476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00100" y="1890713"/>
            <a:ext cx="5157788" cy="16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3144" y="1595438"/>
            <a:ext cx="2224088" cy="222408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800100" y="1890713"/>
            <a:ext cx="1695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Why this project?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00100" y="2195513"/>
            <a:ext cx="5614988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Public socioeconomic datasets risk privacy leakage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Household income is highly sensitive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Need for privacy-preserving statistical releases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Differential Privacy (DP) solves reconstruction &amp; inference attacks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00100" y="1164500"/>
            <a:ext cx="764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219200" y="1090613"/>
            <a:ext cx="3852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Motivation &amp; Problem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" name="Google Shape;37;p4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38" name="Google Shape;38;p4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" name="Google Shape;39;p4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5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48" name="Google Shape;48;p5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5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50" name="Google Shape;50;p5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5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" name="Google Shape;52;p5"/>
          <p:cNvGrpSpPr/>
          <p:nvPr/>
        </p:nvGrpSpPr>
        <p:grpSpPr>
          <a:xfrm>
            <a:off x="761063" y="128075"/>
            <a:ext cx="7725013" cy="4462326"/>
            <a:chOff x="800100" y="1090613"/>
            <a:chExt cx="7725013" cy="4462326"/>
          </a:xfrm>
        </p:grpSpPr>
        <p:sp>
          <p:nvSpPr>
            <p:cNvPr id="53" name="Google Shape;53;p5"/>
            <p:cNvSpPr/>
            <p:nvPr/>
          </p:nvSpPr>
          <p:spPr>
            <a:xfrm>
              <a:off x="800100" y="1090613"/>
              <a:ext cx="3267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662600" y="1798338"/>
              <a:ext cx="1071600" cy="1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Includes: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4662613" y="2062313"/>
              <a:ext cx="3862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Inter"/>
                <a:buNone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Mean, median, stdev income, population, geolocation, land/water area.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800100" y="1979838"/>
              <a:ext cx="3862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Inter"/>
                <a:buNone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Dataset: U.S. Household Income Database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Inter"/>
                <a:buNone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(70</a:t>
              </a:r>
              <a:r>
                <a:rPr lang="en-US" sz="1200">
                  <a:latin typeface="Spectral"/>
                  <a:ea typeface="Spectral"/>
                  <a:cs typeface="Spectral"/>
                  <a:sym typeface="Spectral"/>
                </a:rPr>
                <a:t>,000</a:t>
              </a: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+ geographic regions)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800100" y="1164431"/>
              <a:ext cx="8001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02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1219200" y="1090613"/>
              <a:ext cx="33051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Inter"/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Dataset Overview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2731350" y="4046726"/>
              <a:ext cx="2443200" cy="1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From dataset documentation: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731350" y="4286039"/>
              <a:ext cx="3862500" cy="12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Spectral"/>
                <a:buChar char="•"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hi_mean</a:t>
              </a:r>
              <a:r>
                <a:rPr lang="en-US" sz="1200">
                  <a:latin typeface="Spectral"/>
                  <a:ea typeface="Spectral"/>
                  <a:cs typeface="Spectral"/>
                  <a:sym typeface="Spectral"/>
                </a:rPr>
                <a:t> = mean</a:t>
              </a: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 household income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Spectral"/>
                <a:buChar char="•"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hi_median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Spectral"/>
                <a:buChar char="•"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hi_stdev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Spectral"/>
                <a:buChar char="•"/>
              </a:pP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pop, ALand, AWater, lat, lng, state, city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Spectral"/>
                <a:buChar char="•"/>
              </a:pPr>
              <a:r>
                <a:rPr lang="en-US" sz="1200">
                  <a:latin typeface="Spectral"/>
                  <a:ea typeface="Spectral"/>
                  <a:cs typeface="Spectral"/>
                  <a:sym typeface="Spectral"/>
                </a:rPr>
                <a:t>325,260</a:t>
              </a:r>
              <a:r>
                <a:rPr i="0" lang="en-US" sz="1200" u="none" cap="none" strike="noStrike">
                  <a:solidFill>
                    <a:srgbClr val="000000"/>
                  </a:solidFill>
                  <a:latin typeface="Spectral"/>
                  <a:ea typeface="Spectral"/>
                  <a:cs typeface="Spectral"/>
                  <a:sym typeface="Spectral"/>
                </a:rPr>
                <a:t> records across U.S.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  <p:pic>
        <p:nvPicPr>
          <p:cNvPr id="61" name="Google Shape;6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50" y="1640050"/>
            <a:ext cx="8063099" cy="12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800100" y="1090613"/>
            <a:ext cx="3405188" cy="235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00100" y="1090613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00100" y="1890713"/>
            <a:ext cx="3405188" cy="155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6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72" name="Google Shape;72;p6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" name="Google Shape;73;p6"/>
            <p:cNvGrpSpPr/>
            <p:nvPr/>
          </p:nvGrpSpPr>
          <p:grpSpPr>
            <a:xfrm>
              <a:off x="142875" y="4926275"/>
              <a:ext cx="2014538" cy="152400"/>
              <a:chOff x="800100" y="4572000"/>
              <a:chExt cx="2014538" cy="152400"/>
            </a:xfrm>
          </p:grpSpPr>
          <p:sp>
            <p:nvSpPr>
              <p:cNvPr id="74" name="Google Shape;74;p6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6"/>
              <p:cNvSpPr/>
              <p:nvPr/>
            </p:nvSpPr>
            <p:spPr>
              <a:xfrm>
                <a:off x="1257300" y="4572000"/>
                <a:ext cx="155733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" name="Google Shape;76;p6"/>
          <p:cNvGrpSpPr/>
          <p:nvPr/>
        </p:nvGrpSpPr>
        <p:grpSpPr>
          <a:xfrm>
            <a:off x="705000" y="857826"/>
            <a:ext cx="8029426" cy="3427825"/>
            <a:chOff x="705000" y="1090613"/>
            <a:chExt cx="8029426" cy="3427825"/>
          </a:xfrm>
        </p:grpSpPr>
        <p:pic>
          <p:nvPicPr>
            <p:cNvPr descr="preencoded.png" id="77" name="Google Shape;7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48188" y="2057400"/>
              <a:ext cx="1647825" cy="9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78" name="Google Shape;7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86325" y="1247775"/>
              <a:ext cx="2447925" cy="695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79" name="Google Shape;7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48413" y="2266950"/>
              <a:ext cx="2386013" cy="695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80" name="Google Shape;8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510213" y="3162300"/>
              <a:ext cx="2905125" cy="11191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6"/>
            <p:cNvSpPr/>
            <p:nvPr/>
          </p:nvSpPr>
          <p:spPr>
            <a:xfrm>
              <a:off x="800100" y="1164431"/>
              <a:ext cx="8001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03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1219200" y="1090613"/>
              <a:ext cx="28956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Inter"/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Key Data Fields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 txBox="1"/>
            <p:nvPr/>
          </p:nvSpPr>
          <p:spPr>
            <a:xfrm>
              <a:off x="705000" y="1658538"/>
              <a:ext cx="3924000" cy="28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Main Fields Used</a:t>
              </a:r>
              <a:endParaRPr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Spectral"/>
                <a:buChar char="●"/>
              </a:pP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hi_mean, hi_median, hi_stdev – Income statistics used for DP analysis</a:t>
              </a:r>
              <a:endParaRPr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Spectral"/>
                <a:buChar char="●"/>
              </a:pP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pop (sum_w) – Population / sampling weight for regional scaling</a:t>
              </a:r>
              <a:endParaRPr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Spectral"/>
                <a:buChar char="●"/>
              </a:pP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lat, lng – Spatial coordinates for geographic income mapping</a:t>
              </a:r>
              <a:endParaRPr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Spectral"/>
                <a:buChar char="●"/>
              </a:pP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ALand, AWater – Land and water area for regional characteristics</a:t>
              </a:r>
              <a:endParaRPr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Spectral"/>
                <a:buChar char="●"/>
              </a:pP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State, County, City identifiers – Administrative grouping for EDA</a:t>
              </a:r>
              <a:endParaRPr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Spectral"/>
                <a:buChar char="●"/>
              </a:pP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Zip_Code, id – Unique geographic identifiers</a:t>
              </a:r>
              <a:endParaRPr sz="1200"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800100" y="1090613"/>
            <a:ext cx="5157788" cy="2800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800100" y="1090613"/>
            <a:ext cx="4143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800100" y="3536275"/>
            <a:ext cx="72282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 Light"/>
              <a:buAutoNum type="arabicPeriod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Data cleaning &amp; preprocessing</a:t>
            </a:r>
            <a:endParaRPr i="0" sz="1200" u="none" cap="none" strike="noStrike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 Light"/>
              <a:buAutoNum type="arabicPeriod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Exploratory Data Analysis</a:t>
            </a:r>
            <a:endParaRPr i="0" sz="1200" u="none" cap="none" strike="noStrike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 Light"/>
              <a:buAutoNum type="arabicPeriod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Apply Laplace &amp; Gaussian mechanisms</a:t>
            </a:r>
            <a:endParaRPr i="0" sz="1200" u="none" cap="none" strike="noStrike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 Light"/>
              <a:buAutoNum type="arabicPeriod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Compute errors: Bias, MAE, RMSE, Relative Error</a:t>
            </a:r>
            <a:endParaRPr i="0" sz="1200" u="none" cap="none" strike="noStrike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 Light"/>
              <a:buAutoNum type="arabicPeriod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Train Baseline Regression vs DP-SGD</a:t>
            </a:r>
            <a:endParaRPr i="0" sz="1200" u="none" cap="none" strike="noStrike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 Light"/>
              <a:buAutoNum type="arabicPeriod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Evaluate privacy–utility trade-off</a:t>
            </a:r>
            <a:endParaRPr i="0" sz="1200" u="none" cap="none" strike="noStrike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grpSp>
        <p:nvGrpSpPr>
          <p:cNvPr id="93" name="Google Shape;93;p7"/>
          <p:cNvGrpSpPr/>
          <p:nvPr/>
        </p:nvGrpSpPr>
        <p:grpSpPr>
          <a:xfrm>
            <a:off x="2320850" y="109613"/>
            <a:ext cx="4600500" cy="514500"/>
            <a:chOff x="2320850" y="436613"/>
            <a:chExt cx="4600500" cy="514500"/>
          </a:xfrm>
        </p:grpSpPr>
        <p:sp>
          <p:nvSpPr>
            <p:cNvPr id="94" name="Google Shape;94;p7"/>
            <p:cNvSpPr/>
            <p:nvPr/>
          </p:nvSpPr>
          <p:spPr>
            <a:xfrm>
              <a:off x="2320850" y="510431"/>
              <a:ext cx="8001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04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>
              <a:off x="2739950" y="436613"/>
              <a:ext cx="41814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Inter"/>
                <a:buNone/>
              </a:pPr>
              <a:r>
                <a:rPr b="1" i="0" lang="en-US" sz="27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Methodology Overview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6" name="Google Shape;96;p7" title="Untitled diagram-2025-12-07-2127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50" y="590050"/>
            <a:ext cx="7477391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 txBox="1"/>
          <p:nvPr/>
        </p:nvSpPr>
        <p:spPr>
          <a:xfrm>
            <a:off x="3078900" y="3299200"/>
            <a:ext cx="298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2. Methodology Overview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98" name="Google Shape;98;p7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99" name="Google Shape;99;p7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" name="Google Shape;100;p7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101" name="Google Shape;101;p7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800100" y="1090613"/>
            <a:ext cx="4510088" cy="235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800100" y="1090613"/>
            <a:ext cx="45100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800100" y="1890713"/>
            <a:ext cx="3576638" cy="155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800100" y="1890713"/>
            <a:ext cx="3576638" cy="155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8"/>
          <p:cNvCxnSpPr/>
          <p:nvPr/>
        </p:nvCxnSpPr>
        <p:spPr>
          <a:xfrm>
            <a:off x="800100" y="2185988"/>
            <a:ext cx="357663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14" name="Google Shape;1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363" y="1819275"/>
            <a:ext cx="2986088" cy="2557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/>
          <p:nvPr/>
        </p:nvSpPr>
        <p:spPr>
          <a:xfrm>
            <a:off x="800100" y="1890713"/>
            <a:ext cx="1662113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Highlight findings: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Income is right-skewed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800100" y="2643188"/>
            <a:ext cx="4033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Strong correlation between mean, median &amp; stdev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00100" y="32146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Income is right-skewed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219200" y="1090613"/>
            <a:ext cx="45481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5186375" y="4486650"/>
            <a:ext cx="298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2. Correlation Matrix of Numeric Features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122" name="Google Shape;122;p8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123" name="Google Shape;123;p8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" name="Google Shape;124;p8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125" name="Google Shape;125;p8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800100" y="1090613"/>
            <a:ext cx="3714750" cy="178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800100" y="1090613"/>
            <a:ext cx="3714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800100" y="1890713"/>
            <a:ext cx="3576638" cy="981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800100" y="1890713"/>
            <a:ext cx="3576638" cy="981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8338" y="2814638"/>
            <a:ext cx="22098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3238" y="1166813"/>
            <a:ext cx="2009775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5838" y="1166813"/>
            <a:ext cx="2057400" cy="15001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800100" y="1890713"/>
            <a:ext cx="2628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Distributions histograms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All income distributions are heavy-tailed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800100" y="26431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 skew → DP noise impact increases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219200" y="1090613"/>
            <a:ext cx="3752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Income Distributions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4891250" y="4493575"/>
            <a:ext cx="39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3: Histograms for Mean, Median and Standard Deviation of household income. All three exhibit right-skewed heavy-tail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distributions typical in socioeconomic variables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146" name="Google Shape;146;p9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147" name="Google Shape;147;p9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" name="Google Shape;148;p9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800100" y="1090613"/>
            <a:ext cx="4210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4881563" y="1704975"/>
            <a:ext cx="3405188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800100" y="1704975"/>
            <a:ext cx="34051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800100" y="1704975"/>
            <a:ext cx="34051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10"/>
          <p:cNvCxnSpPr/>
          <p:nvPr/>
        </p:nvCxnSpPr>
        <p:spPr>
          <a:xfrm>
            <a:off x="800100" y="2000250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10"/>
          <p:cNvSpPr/>
          <p:nvPr/>
        </p:nvSpPr>
        <p:spPr>
          <a:xfrm>
            <a:off x="4881563" y="1704975"/>
            <a:ext cx="3405188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" name="Google Shape;163;p10"/>
          <p:cNvCxnSpPr/>
          <p:nvPr/>
        </p:nvCxnSpPr>
        <p:spPr>
          <a:xfrm>
            <a:off x="4881563" y="2000250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64" name="Google Shape;16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2100263"/>
            <a:ext cx="3405188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/>
          <p:nvPr/>
        </p:nvSpPr>
        <p:spPr>
          <a:xfrm>
            <a:off x="800100" y="1704975"/>
            <a:ext cx="2633663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 showing strong 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881563" y="1704975"/>
            <a:ext cx="132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insights: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881563" y="2114550"/>
            <a:ext cx="38623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Coastal states show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higher income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Rural areas show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lower spread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1219200" y="1090613"/>
            <a:ext cx="4248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Geographic Distribution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800075" y="4305325"/>
            <a:ext cx="34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4. </a:t>
            </a: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Geographic scatter plot of mean household income across U.S. regions. Color intensity corresponds to income,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revealing strong spatial socioeconomic clustering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171" name="Google Shape;171;p10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172" name="Google Shape;172;p10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3" name="Google Shape;173;p10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00100" y="1090613"/>
            <a:ext cx="530066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800100" y="1775713"/>
            <a:ext cx="4033838" cy="914400"/>
            <a:chOff x="800100" y="2300288"/>
            <a:chExt cx="4033838" cy="914400"/>
          </a:xfrm>
        </p:grpSpPr>
        <p:sp>
          <p:nvSpPr>
            <p:cNvPr id="184" name="Google Shape;184;p11"/>
            <p:cNvSpPr/>
            <p:nvPr/>
          </p:nvSpPr>
          <p:spPr>
            <a:xfrm>
              <a:off x="800100" y="2300288"/>
              <a:ext cx="4033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Inter"/>
                <a:buChar char="•"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(ε, δ)-Differential Privacy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800100" y="2643188"/>
              <a:ext cx="4033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Inter"/>
                <a:buChar char="•"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Laplace Mechanism for pure DP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800100" y="2986088"/>
              <a:ext cx="4033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Inter"/>
                <a:buChar char="•"/>
              </a:pPr>
              <a:r>
                <a:rPr b="1" i="0" lang="en-US" sz="12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Gaussian Mechanism for approximate DP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219200" y="1090625"/>
            <a:ext cx="6371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Differential Privacy Framework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11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190" name="Google Shape;190;p11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" name="Google Shape;191;p11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192" name="Google Shape;192;p11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4" name="Google Shape;194;p11"/>
          <p:cNvSpPr/>
          <p:nvPr/>
        </p:nvSpPr>
        <p:spPr>
          <a:xfrm>
            <a:off x="800125" y="3007963"/>
            <a:ext cx="1557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apply DP to: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800125" y="3417538"/>
            <a:ext cx="403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Mean household income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800125" y="3760438"/>
            <a:ext cx="403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Median household income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800125" y="4103338"/>
            <a:ext cx="403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Standard deviation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" name="Google Shape;198;p11"/>
          <p:cNvGrpSpPr/>
          <p:nvPr/>
        </p:nvGrpSpPr>
        <p:grpSpPr>
          <a:xfrm>
            <a:off x="5006500" y="2548525"/>
            <a:ext cx="3733275" cy="1099800"/>
            <a:chOff x="5170000" y="2733800"/>
            <a:chExt cx="3733275" cy="1099800"/>
          </a:xfrm>
        </p:grpSpPr>
        <p:sp>
          <p:nvSpPr>
            <p:cNvPr id="199" name="Google Shape;199;p11"/>
            <p:cNvSpPr/>
            <p:nvPr/>
          </p:nvSpPr>
          <p:spPr>
            <a:xfrm>
              <a:off x="5609725" y="2733800"/>
              <a:ext cx="29424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C6C6C"/>
                </a:buClr>
                <a:buSzPts val="1350"/>
                <a:buFont typeface="Helvetica Neue"/>
                <a:buNone/>
              </a:pPr>
              <a:r>
                <a:rPr i="0" lang="en-US" sz="1200" u="none" cap="none" strike="noStrike">
                  <a:solidFill>
                    <a:srgbClr val="6C6C6C"/>
                  </a:solidFill>
                  <a:latin typeface="Spectral"/>
                  <a:ea typeface="Spectral"/>
                  <a:cs typeface="Spectral"/>
                  <a:sym typeface="Spectral"/>
                </a:rPr>
                <a:t>Laplace noise: Laplace(0, Δf / ε)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5258575" y="3100400"/>
              <a:ext cx="36447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C6C6C"/>
                </a:buClr>
                <a:buSzPts val="1350"/>
                <a:buFont typeface="Helvetica Neue"/>
                <a:buNone/>
              </a:pPr>
              <a:r>
                <a:rPr i="0" lang="en-US" sz="1200" u="none" cap="none" strike="noStrike">
                  <a:solidFill>
                    <a:srgbClr val="6C6C6C"/>
                  </a:solidFill>
                  <a:latin typeface="Spectral"/>
                  <a:ea typeface="Spectral"/>
                  <a:cs typeface="Spectral"/>
                  <a:sym typeface="Spectral"/>
                </a:rPr>
                <a:t>Gaussian noise: σ = sqrt(2 ln(1.25/δ)) * Δf / ε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5170000" y="3467000"/>
              <a:ext cx="36309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84545"/>
                </a:buClr>
                <a:buSzPts val="1878"/>
                <a:buFont typeface="Helvetica Neue"/>
                <a:buNone/>
              </a:pPr>
              <a:r>
                <a:rPr i="0" lang="en-US" sz="1200" u="none" cap="none" strike="noStrike">
                  <a:solidFill>
                    <a:srgbClr val="484545"/>
                  </a:solidFill>
                  <a:latin typeface="Spectral"/>
                  <a:ea typeface="Spectral"/>
                  <a:cs typeface="Spectral"/>
                  <a:sym typeface="Spectral"/>
                </a:rPr>
                <a:t>ε values tested: </a:t>
              </a:r>
              <a:r>
                <a:rPr lang="en-US" sz="120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rPr>
                <a:t> </a:t>
              </a:r>
              <a:r>
                <a:rPr i="0" lang="en-US" sz="1200" u="none" cap="none" strike="noStrike">
                  <a:solidFill>
                    <a:srgbClr val="484545"/>
                  </a:solidFill>
                  <a:latin typeface="Spectral"/>
                  <a:ea typeface="Spectral"/>
                  <a:cs typeface="Spectral"/>
                  <a:sym typeface="Spectral"/>
                </a:rPr>
                <a:t>{0.05, 0.1, 0.5, 1, </a:t>
              </a:r>
              <a:r>
                <a:rPr lang="en-US" sz="1200">
                  <a:solidFill>
                    <a:srgbClr val="484545"/>
                  </a:solidFill>
                  <a:latin typeface="Spectral"/>
                  <a:ea typeface="Spectral"/>
                  <a:cs typeface="Spectral"/>
                  <a:sym typeface="Spectral"/>
                </a:rPr>
                <a:t>2</a:t>
              </a:r>
              <a:r>
                <a:rPr i="0" lang="en-US" sz="1200" u="none" cap="none" strike="noStrike">
                  <a:solidFill>
                    <a:srgbClr val="484545"/>
                  </a:solidFill>
                  <a:latin typeface="Spectral"/>
                  <a:ea typeface="Spectral"/>
                  <a:cs typeface="Spectral"/>
                  <a:sym typeface="Spectral"/>
                </a:rPr>
                <a:t>, </a:t>
              </a:r>
              <a:r>
                <a:rPr lang="en-US" sz="1200">
                  <a:solidFill>
                    <a:srgbClr val="484545"/>
                  </a:solidFill>
                  <a:latin typeface="Spectral"/>
                  <a:ea typeface="Spectral"/>
                  <a:cs typeface="Spectral"/>
                  <a:sym typeface="Spectral"/>
                </a:rPr>
                <a:t>5</a:t>
              </a:r>
              <a:r>
                <a:rPr i="0" lang="en-US" sz="1200" u="none" cap="none" strike="noStrike">
                  <a:solidFill>
                    <a:srgbClr val="484545"/>
                  </a:solidFill>
                  <a:latin typeface="Spectral"/>
                  <a:ea typeface="Spectral"/>
                  <a:cs typeface="Spectral"/>
                  <a:sym typeface="Spectral"/>
                </a:rPr>
                <a:t>}</a:t>
              </a:r>
              <a:endParaRPr i="0" sz="1200" u="none" cap="none" strike="noStrik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800100" y="1090613"/>
            <a:ext cx="3576638" cy="212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800100" y="1090613"/>
            <a:ext cx="3562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800100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12"/>
          <p:cNvGrpSpPr/>
          <p:nvPr/>
        </p:nvGrpSpPr>
        <p:grpSpPr>
          <a:xfrm>
            <a:off x="392300" y="86475"/>
            <a:ext cx="8457600" cy="514500"/>
            <a:chOff x="800100" y="978925"/>
            <a:chExt cx="8457600" cy="514500"/>
          </a:xfrm>
        </p:grpSpPr>
        <p:sp>
          <p:nvSpPr>
            <p:cNvPr id="212" name="Google Shape;212;p12"/>
            <p:cNvSpPr/>
            <p:nvPr/>
          </p:nvSpPr>
          <p:spPr>
            <a:xfrm>
              <a:off x="800100" y="1052731"/>
              <a:ext cx="800100" cy="3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09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1219200" y="978925"/>
              <a:ext cx="80385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Inter"/>
                <a:buNone/>
              </a:pPr>
              <a:r>
                <a:rPr b="1" lang="en-US" sz="2700">
                  <a:latin typeface="Inter"/>
                  <a:ea typeface="Inter"/>
                  <a:cs typeface="Inter"/>
                  <a:sym typeface="Inter"/>
                </a:rPr>
                <a:t>Interpreting Laplace vs Gaussian Mechanisms</a:t>
              </a:r>
              <a:endPara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2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215" name="Google Shape;215;p12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6" name="Google Shape;216;p12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217" name="Google Shape;217;p12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9" name="Google Shape;219;p12"/>
          <p:cNvSpPr txBox="1"/>
          <p:nvPr/>
        </p:nvSpPr>
        <p:spPr>
          <a:xfrm>
            <a:off x="142875" y="2624925"/>
            <a:ext cx="4108500" cy="24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Why Laplace Performs Better at Low ε (Strong Privacy):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Laplace noise is scaled by Δf / ε, producing a </a:t>
            </a:r>
            <a:r>
              <a:rPr i="1"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tighter</a:t>
            </a: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noise distribution.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Works well when ε is tiny because the added noise grows linearly and remains predictable.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This method yields fewer extreme values, which in turn leads to lower MAE, RMSE, and Relative Error at low values.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This method is more appropriate for pure DP scenarios that demand strict guarantees.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cxnSp>
        <p:nvCxnSpPr>
          <p:cNvPr id="220" name="Google Shape;220;p12"/>
          <p:cNvCxnSpPr/>
          <p:nvPr/>
        </p:nvCxnSpPr>
        <p:spPr>
          <a:xfrm flipH="1">
            <a:off x="4362525" y="2960775"/>
            <a:ext cx="3600" cy="20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12"/>
          <p:cNvSpPr txBox="1"/>
          <p:nvPr/>
        </p:nvSpPr>
        <p:spPr>
          <a:xfrm>
            <a:off x="4362525" y="2749575"/>
            <a:ext cx="4635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Why Gaussian Stabilizes Faster at High ε (Weaker Privacy):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Gaussian noise adds variance proportional to σ = √(2 ln(1.25/δ)) · (Δf / ε).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At small ε, the variance is large → more outliers → higher errors.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At moderate and high ε, variance rapidly shrinks, causing the Gaussian mechanism to stabilize and outperform Laplace.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Gaussian handles high-dimensional or aggregated statistics more smoothly, improving performance at ε ≥ 1.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222" name="Google Shape;222;p12" title="Untitled diagram-2025-12-07-220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766" y="582375"/>
            <a:ext cx="3033145" cy="21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800100" y="1090613"/>
            <a:ext cx="3576638" cy="246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800100" y="1090613"/>
            <a:ext cx="339566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800100" y="1890713"/>
            <a:ext cx="3576638" cy="166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800100" y="1890713"/>
            <a:ext cx="3576638" cy="166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13"/>
          <p:cNvCxnSpPr/>
          <p:nvPr/>
        </p:nvCxnSpPr>
        <p:spPr>
          <a:xfrm>
            <a:off x="800100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3"/>
          <p:cNvSpPr/>
          <p:nvPr/>
        </p:nvSpPr>
        <p:spPr>
          <a:xfrm>
            <a:off x="800100" y="1890713"/>
            <a:ext cx="942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800100" y="26431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Mean Absolute Error (MAE)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800100" y="29860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Root Mean Squared Error (RMSE)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800100" y="33289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Relative Error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1219200" y="1090613"/>
            <a:ext cx="343376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Error Metrics Used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3" title="Untitled diagram-2025-12-07-2133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398" y="1739049"/>
            <a:ext cx="5322400" cy="2495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3"/>
          <p:cNvSpPr txBox="1"/>
          <p:nvPr/>
        </p:nvSpPr>
        <p:spPr>
          <a:xfrm>
            <a:off x="4609950" y="4419600"/>
            <a:ext cx="34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5. Bias, MAE, RMSE and RE are the error </a:t>
            </a: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matrices</a:t>
            </a: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 used for this project. Their formula and reason behind using them are stated in this figure.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43" name="Google Shape;243;p13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244" name="Google Shape;244;p13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" name="Google Shape;245;p13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246" name="Google Shape;246;p13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/>
          <p:nvPr/>
        </p:nvSpPr>
        <p:spPr>
          <a:xfrm>
            <a:off x="800100" y="1090613"/>
            <a:ext cx="3576638" cy="212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800100" y="1090613"/>
            <a:ext cx="31337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800100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800100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4"/>
          <p:cNvCxnSpPr/>
          <p:nvPr/>
        </p:nvCxnSpPr>
        <p:spPr>
          <a:xfrm>
            <a:off x="800100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59" name="Google Shape;2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890713"/>
            <a:ext cx="3581400" cy="211931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4"/>
          <p:cNvSpPr/>
          <p:nvPr/>
        </p:nvSpPr>
        <p:spPr>
          <a:xfrm>
            <a:off x="800100" y="1890713"/>
            <a:ext cx="121443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points: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Laplace bias high at low 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800100" y="26431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Gaussian stabilizes faster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800100" y="29860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Median most sensitive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800100" y="1164431"/>
            <a:ext cx="781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200150" y="1090613"/>
            <a:ext cx="3190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Results: Bias vs ε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4660050" y="4230300"/>
            <a:ext cx="34053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6. Bias vs ε for Laplace and Gaussian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67" name="Google Shape;267;p14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268" name="Google Shape;268;p14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" name="Google Shape;269;p14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270" name="Google Shape;270;p14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4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800100" y="1090613"/>
            <a:ext cx="5010150" cy="212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800100" y="1090613"/>
            <a:ext cx="5010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800100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800100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15"/>
          <p:cNvCxnSpPr/>
          <p:nvPr/>
        </p:nvCxnSpPr>
        <p:spPr>
          <a:xfrm>
            <a:off x="800100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83" name="Google Shape;2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0113" y="1776413"/>
            <a:ext cx="2157413" cy="1271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4" name="Google Shape;2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5950" y="3109913"/>
            <a:ext cx="2338388" cy="1281113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/>
          <p:nvPr/>
        </p:nvSpPr>
        <p:spPr>
          <a:xfrm>
            <a:off x="800100" y="1890713"/>
            <a:ext cx="1028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Insights: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Error decreases exponentially as ε increases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800100" y="26431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Gaussian performs better at mid-high 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800100" y="29860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Laplace competitive at ε &lt;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219200" y="1090613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Results: MAE &amp; RMSE Trends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4660050" y="4391025"/>
            <a:ext cx="3405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7. </a:t>
            </a: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MAE and RMSE for Laplace and Gaussian mechanisms across varying privacy budgets (𝜖). Each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panel compares mean, median and standard deviation perturbations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292" name="Google Shape;292;p15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293" name="Google Shape;293;p15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4" name="Google Shape;294;p15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295" name="Google Shape;295;p15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5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/>
        </p:nvSpPr>
        <p:spPr>
          <a:xfrm>
            <a:off x="4660050" y="4465975"/>
            <a:ext cx="3405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8. Relative Error for Laplace and Gaussian mechanisms across varying privacy budgets (𝜖)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800100" y="1090613"/>
            <a:ext cx="4567238" cy="212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800100" y="1090613"/>
            <a:ext cx="456723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800100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800100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p16"/>
          <p:cNvCxnSpPr/>
          <p:nvPr/>
        </p:nvCxnSpPr>
        <p:spPr>
          <a:xfrm>
            <a:off x="800100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09" name="Google Shape;3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981200"/>
            <a:ext cx="37433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6"/>
          <p:cNvSpPr/>
          <p:nvPr/>
        </p:nvSpPr>
        <p:spPr>
          <a:xfrm>
            <a:off x="800100" y="1890713"/>
            <a:ext cx="14001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Observations: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Relative error extremely high at ε=0.1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00100" y="26431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Drops near zero at ε≥10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800100" y="29860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Mean least sensitive to noise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219200" y="1090613"/>
            <a:ext cx="460533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Relative Error Comparison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" name="Google Shape;316;p16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317" name="Google Shape;317;p16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8" name="Google Shape;318;p16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319" name="Google Shape;319;p16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"/>
          <p:cNvSpPr/>
          <p:nvPr/>
        </p:nvSpPr>
        <p:spPr>
          <a:xfrm>
            <a:off x="800100" y="1090613"/>
            <a:ext cx="42005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4800600" y="2571750"/>
            <a:ext cx="3405188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4800600" y="2571750"/>
            <a:ext cx="34051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4800600" y="2990850"/>
            <a:ext cx="34051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1" name="Google Shape;3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1738313"/>
            <a:ext cx="3438525" cy="256698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7"/>
          <p:cNvSpPr/>
          <p:nvPr/>
        </p:nvSpPr>
        <p:spPr>
          <a:xfrm>
            <a:off x="4800600" y="2990850"/>
            <a:ext cx="38623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DP noise impacts them more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800600" y="2571750"/>
            <a:ext cx="38623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Low-population regions → higher variance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219200" y="1090613"/>
            <a:ext cx="42386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Additional Data Insights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816713" y="4305300"/>
            <a:ext cx="3405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9. </a:t>
            </a: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Scatter plot of mean income vs. pseudo-population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(sum_w). Higher populations show narrower income vari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ability, while low-population regions show wider spread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37" name="Google Shape;337;p17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338" name="Google Shape;338;p17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9" name="Google Shape;339;p17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340" name="Google Shape;340;p17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7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/>
          <p:nvPr/>
        </p:nvSpPr>
        <p:spPr>
          <a:xfrm>
            <a:off x="800100" y="4674200"/>
            <a:ext cx="1557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2555100" y="3052326"/>
            <a:ext cx="13668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Models used: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2555100" y="3461900"/>
            <a:ext cx="403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Baseline Linear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2555100" y="3804801"/>
            <a:ext cx="403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DP-SGD Regression (TensorFlow Privacy)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2555100" y="4147701"/>
            <a:ext cx="403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DP-SGD settings: ε≈1, δ=1e-5, noise multiplier=1.1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1782650" y="73806"/>
            <a:ext cx="800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2201750" y="-12"/>
            <a:ext cx="5257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Machine Learning Component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3099000" y="2453425"/>
            <a:ext cx="32700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9. Diagram of ML Workflow and ML Model Architecture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55" name="Google Shape;355;p18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356" name="Google Shape;356;p18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7" name="Google Shape;357;p18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358" name="Google Shape;358;p18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8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360" name="Google Shape;360;p18" title="Untitled diagram-2025-12-07-2222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947" y="1525763"/>
            <a:ext cx="7146304" cy="8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8" title="Untitled diagram-2025-12-07-2224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280" y="940025"/>
            <a:ext cx="8929638" cy="5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"/>
          <p:cNvSpPr/>
          <p:nvPr/>
        </p:nvSpPr>
        <p:spPr>
          <a:xfrm>
            <a:off x="800100" y="1090613"/>
            <a:ext cx="5048250" cy="235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800100" y="1090613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800100" y="1890713"/>
            <a:ext cx="3576638" cy="155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800100" y="1890713"/>
            <a:ext cx="3576638" cy="155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2" name="Google Shape;372;p19"/>
          <p:cNvCxnSpPr/>
          <p:nvPr/>
        </p:nvCxnSpPr>
        <p:spPr>
          <a:xfrm>
            <a:off x="800100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73" name="Google Shape;3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2033588"/>
            <a:ext cx="37528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9"/>
          <p:cNvSpPr/>
          <p:nvPr/>
        </p:nvSpPr>
        <p:spPr>
          <a:xfrm>
            <a:off x="800100" y="1890713"/>
            <a:ext cx="10763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Baseline error tightly centered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800100" y="2643188"/>
            <a:ext cx="40338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DP-SGD shows heavy negative skew, wide spread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800100" y="32146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DP noise strongly reduces ML utility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1219200" y="1090625"/>
            <a:ext cx="5722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 Results: Error Distribution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4745763" y="4352975"/>
            <a:ext cx="3405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11. </a:t>
            </a: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Prediction error density for baseline Linear Regression vs. DP-SGD model. DP-SGD exhibits significantly larger error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variance and negative skew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381" name="Google Shape;381;p19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382" name="Google Shape;382;p19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3" name="Google Shape;383;p19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384" name="Google Shape;384;p19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"/>
          <p:cNvSpPr/>
          <p:nvPr/>
        </p:nvSpPr>
        <p:spPr>
          <a:xfrm>
            <a:off x="800100" y="1090613"/>
            <a:ext cx="4214813" cy="1781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800100" y="1090613"/>
            <a:ext cx="42148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800100" y="1890713"/>
            <a:ext cx="3576638" cy="981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/>
          <p:nvPr/>
        </p:nvSpPr>
        <p:spPr>
          <a:xfrm>
            <a:off x="800100" y="1890713"/>
            <a:ext cx="3576638" cy="981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6" name="Google Shape;396;p20"/>
          <p:cNvCxnSpPr/>
          <p:nvPr/>
        </p:nvCxnSpPr>
        <p:spPr>
          <a:xfrm>
            <a:off x="800100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97" name="Google Shape;3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3950" y="1890726"/>
            <a:ext cx="3509950" cy="2550774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0"/>
          <p:cNvSpPr/>
          <p:nvPr/>
        </p:nvSpPr>
        <p:spPr>
          <a:xfrm>
            <a:off x="800100" y="1890713"/>
            <a:ext cx="1152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800100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MAE &amp; RMSE significantly worse for DP-SGD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800100" y="26431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R² near zero → poor predictive power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1219200" y="1090613"/>
            <a:ext cx="4252913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 Metrics Comparison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4886263" y="4433400"/>
            <a:ext cx="3405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Fig 12. </a:t>
            </a: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MAE, RMSE and 𝑅2 comparison between baseline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and DP-SGD models. The DP-SGD model suffers significant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Spectral"/>
                <a:ea typeface="Spectral"/>
                <a:cs typeface="Spectral"/>
                <a:sym typeface="Spectral"/>
              </a:rPr>
              <a:t>performance degradation but ensures (𝜖,𝛿)-DP</a:t>
            </a:r>
            <a:endParaRPr sz="800"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404" name="Google Shape;404;p20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405" name="Google Shape;405;p20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6" name="Google Shape;406;p20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407" name="Google Shape;407;p20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"/>
          <p:cNvSpPr/>
          <p:nvPr/>
        </p:nvSpPr>
        <p:spPr>
          <a:xfrm>
            <a:off x="4767263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4767263" y="3624263"/>
            <a:ext cx="185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4767263" y="3624263"/>
            <a:ext cx="185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4767263" y="1890713"/>
            <a:ext cx="3576638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21"/>
          <p:cNvCxnSpPr/>
          <p:nvPr/>
        </p:nvCxnSpPr>
        <p:spPr>
          <a:xfrm>
            <a:off x="4767263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21"/>
          <p:cNvSpPr/>
          <p:nvPr/>
        </p:nvSpPr>
        <p:spPr>
          <a:xfrm>
            <a:off x="800100" y="1090613"/>
            <a:ext cx="2876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"/>
          <p:cNvSpPr/>
          <p:nvPr/>
        </p:nvSpPr>
        <p:spPr>
          <a:xfrm>
            <a:off x="800100" y="1890713"/>
            <a:ext cx="3576638" cy="981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1"/>
          <p:cNvSpPr/>
          <p:nvPr/>
        </p:nvSpPr>
        <p:spPr>
          <a:xfrm>
            <a:off x="800100" y="1890713"/>
            <a:ext cx="3576638" cy="981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3" name="Google Shape;423;p21"/>
          <p:cNvCxnSpPr/>
          <p:nvPr/>
        </p:nvCxnSpPr>
        <p:spPr>
          <a:xfrm>
            <a:off x="800100" y="2185988"/>
            <a:ext cx="3405188" cy="0"/>
          </a:xfrm>
          <a:prstGeom prst="straightConnector1">
            <a:avLst/>
          </a:prstGeom>
          <a:noFill/>
          <a:ln cap="flat" cmpd="sng" w="25400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21"/>
          <p:cNvSpPr/>
          <p:nvPr/>
        </p:nvSpPr>
        <p:spPr>
          <a:xfrm>
            <a:off x="4767263" y="3624263"/>
            <a:ext cx="2314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4767263" y="1890713"/>
            <a:ext cx="1571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 of DP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4767263" y="23002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Low ε → high noise, low accuracy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4767263" y="26431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Skewed income data amplifies errors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4767263" y="2986088"/>
            <a:ext cx="403383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ML under DP-SGD loses significant utility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800100" y="1890713"/>
            <a:ext cx="2105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Laplace vs Gaussian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800100" y="2300311"/>
            <a:ext cx="4033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lang="en-US" sz="1200">
                <a:latin typeface="Spectral"/>
                <a:ea typeface="Spectral"/>
                <a:cs typeface="Spectral"/>
                <a:sym typeface="Spectral"/>
              </a:rPr>
              <a:t>Laplace is</a:t>
            </a: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 better for small ε. Laplace has higher bias but lower relative error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800100" y="2813547"/>
            <a:ext cx="40338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pectral"/>
              <a:buChar char="•"/>
            </a:pPr>
            <a:r>
              <a:rPr lang="en-US" sz="1200">
                <a:latin typeface="Spectral"/>
                <a:ea typeface="Spectral"/>
                <a:cs typeface="Spectral"/>
                <a:sym typeface="Spectral"/>
              </a:rPr>
              <a:t>Gaussian performs worse at low ε. </a:t>
            </a:r>
            <a:r>
              <a:rPr i="0" lang="en-US" sz="1200" u="none" cap="none" strike="noStrike">
                <a:solidFill>
                  <a:srgbClr val="000000"/>
                </a:solidFill>
                <a:latin typeface="Spectral"/>
                <a:ea typeface="Spectral"/>
                <a:cs typeface="Spectral"/>
                <a:sym typeface="Spectral"/>
              </a:rPr>
              <a:t>Gaussian more stable overall</a:t>
            </a:r>
            <a:endParaRPr i="0" sz="1200" u="none" cap="none" strike="noStrike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800100" y="1164431"/>
            <a:ext cx="8001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1219200" y="1090613"/>
            <a:ext cx="2914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4" name="Google Shape;434;p21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435" name="Google Shape;435;p21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6" name="Google Shape;436;p21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437" name="Google Shape;437;p21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"/>
          <p:cNvSpPr/>
          <p:nvPr/>
        </p:nvSpPr>
        <p:spPr>
          <a:xfrm>
            <a:off x="800100" y="1090613"/>
            <a:ext cx="452913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2127950" y="237931"/>
            <a:ext cx="800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2547050" y="164113"/>
            <a:ext cx="4567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Conclusion &amp; Future 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7" name="Google Shape;447;p22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448" name="Google Shape;448;p22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9" name="Google Shape;449;p22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450" name="Google Shape;450;p22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2" name="Google Shape;452;p22"/>
          <p:cNvSpPr txBox="1"/>
          <p:nvPr/>
        </p:nvSpPr>
        <p:spPr>
          <a:xfrm>
            <a:off x="258150" y="1090625"/>
            <a:ext cx="29295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u="sng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Conclusion</a:t>
            </a:r>
            <a:endParaRPr sz="1200" u="sng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Differential Privacy effectively protects sensitive socioeconomic statistics.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Strong privacy (low ε) introduces high noise and reduces accuracy.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Heavy-tailed income distributions amplify DP error.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Gaussian mechanism more stable at higher ε; Laplace better for small ε.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ML under DP-SGD shows significantly reduced utility.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3538450" y="1090625"/>
            <a:ext cx="2616000" cy="2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u="sng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Limitations</a:t>
            </a:r>
            <a:endParaRPr sz="1200" u="sng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Income data are highly skewed, increasing sensitivity and noise impact.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Median and standard deviation are more sensitive to DP noise.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DP-SGD regression shows poor predictive performance (low R², large error).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6437150" y="1090625"/>
            <a:ext cx="2500800" cy="22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u="sng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Future Work</a:t>
            </a:r>
            <a:endParaRPr sz="1200" u="sng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Explore Rényi Differential Privacy and advanced privacy accounting.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Improve sensitivity bounding techniques.</a:t>
            </a:r>
            <a:endParaRPr sz="120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ectral"/>
              <a:buChar char="●"/>
            </a:pPr>
            <a:r>
              <a:rPr lang="en-US" sz="12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Test alternative DP machine learning architectures.</a:t>
            </a:r>
            <a:endParaRPr sz="1200"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3"/>
          <p:cNvSpPr/>
          <p:nvPr/>
        </p:nvSpPr>
        <p:spPr>
          <a:xfrm>
            <a:off x="800100" y="4572000"/>
            <a:ext cx="1557338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1" name="Google Shape;4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057275"/>
            <a:ext cx="419100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23"/>
          <p:cNvGrpSpPr/>
          <p:nvPr/>
        </p:nvGrpSpPr>
        <p:grpSpPr>
          <a:xfrm>
            <a:off x="142875" y="4926275"/>
            <a:ext cx="8956450" cy="152400"/>
            <a:chOff x="142875" y="4926275"/>
            <a:chExt cx="8956450" cy="152400"/>
          </a:xfrm>
        </p:grpSpPr>
        <p:sp>
          <p:nvSpPr>
            <p:cNvPr id="463" name="Google Shape;463;p23"/>
            <p:cNvSpPr/>
            <p:nvPr/>
          </p:nvSpPr>
          <p:spPr>
            <a:xfrm>
              <a:off x="7742125" y="4926275"/>
              <a:ext cx="13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E7E7E"/>
                </a:buClr>
                <a:buSzPts val="750"/>
                <a:buFont typeface="Helvetica Neue"/>
                <a:buNone/>
              </a:pPr>
              <a:r>
                <a:rPr b="0" i="0" lang="en-US" sz="750" u="none" cap="none" strike="noStrike">
                  <a:solidFill>
                    <a:srgbClr val="7E7E7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Team CyberSentinels</a:t>
              </a:r>
              <a:endPara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" name="Google Shape;464;p23"/>
            <p:cNvGrpSpPr/>
            <p:nvPr/>
          </p:nvGrpSpPr>
          <p:grpSpPr>
            <a:xfrm>
              <a:off x="142875" y="4926275"/>
              <a:ext cx="2014500" cy="152400"/>
              <a:chOff x="800100" y="4572000"/>
              <a:chExt cx="2014500" cy="152400"/>
            </a:xfrm>
          </p:grpSpPr>
          <p:sp>
            <p:nvSpPr>
              <p:cNvPr id="465" name="Google Shape;465;p23"/>
              <p:cNvSpPr/>
              <p:nvPr/>
            </p:nvSpPr>
            <p:spPr>
              <a:xfrm>
                <a:off x="800100" y="4572000"/>
                <a:ext cx="800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CIS 455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3"/>
              <p:cNvSpPr/>
              <p:nvPr/>
            </p:nvSpPr>
            <p:spPr>
              <a:xfrm>
                <a:off x="1257300" y="4572000"/>
                <a:ext cx="15573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50"/>
                  <a:buFont typeface="Helvetica Neue"/>
                  <a:buNone/>
                </a:pPr>
                <a:r>
                  <a:rPr b="0" i="0" lang="en-US" sz="750" u="none" cap="none" strike="noStrike">
                    <a:solidFill>
                      <a:srgbClr val="000000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Data Security and Privacy </a:t>
                </a:r>
                <a:endParaRPr b="0" i="0" sz="7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